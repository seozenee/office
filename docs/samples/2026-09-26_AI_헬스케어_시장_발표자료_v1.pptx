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시장 규모 (억원)</c:v>
                </c:pt>
              </c:strCache>
            </c:strRef>
          </c:tx>
          <c:spPr>
            <a:solidFill>
              <a:srgbClr val="2B5DAA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2028(E)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9500.0</c:v>
                </c:pt>
                <c:pt idx="1">
                  <c:v>12000.0</c:v>
                </c:pt>
                <c:pt idx="2">
                  <c:v>35000.0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2B5DA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240000000.0</c:v>
                </c:pt>
                <c:pt idx="1">
                  <c:v>395520000.0</c:v>
                </c:pt>
                <c:pt idx="2">
                  <c:v>651816960.0</c:v>
                </c:pt>
                <c:pt idx="3">
                  <c:v>1074194350.08</c:v>
                </c:pt>
                <c:pt idx="4">
                  <c:v>1770272288.93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E07B39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-212000000.0</c:v>
                </c:pt>
                <c:pt idx="1">
                  <c:v>-162136000.0</c:v>
                </c:pt>
                <c:pt idx="2">
                  <c:v>-114878128.0</c:v>
                </c:pt>
                <c:pt idx="3">
                  <c:v>2158545.06</c:v>
                </c:pt>
                <c:pt idx="4">
                  <c:v>244624727.25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목표: AI 헬스케어 시장을 조사해서 새로운 사업 아이디어를 만들고 투자자용 PPT까지 만들어줘. 모든 사실에는 [n] 출처 번호가 있으며 마지막 슬라이드에 목록이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 정의는 검증된 출처에 근거한 항목만 사실로 표시했습니다.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사실은 원문 인용문 존재와 숫자 일치가 확인된 항목입니다. 신뢰도: 0.99, 0.99, 0.99, 0.99, 0.99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검증 엔진이 집계한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재무 수치는 LLM이 아니라 계산 엔진이 산출했고, XLSX 수식과 대조 검증되었습니다.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hw.go.kr/policy/ai-healthcare-2025" TargetMode="External"/><Relationship Id="rId3" Type="http://schemas.openxmlformats.org/officeDocument/2006/relationships/hyperlink" Target="https://www.kdi.re.kr/report/ai-health-market-2025.pdf" TargetMode="External"/><Relationship Id="rId4" Type="http://schemas.openxmlformats.org/officeDocument/2006/relationships/hyperlink" Target="https://arxiv.org/abs/2501.01234" TargetMode="External"/><Relationship Id="rId5" Type="http://schemas.openxmlformats.org/officeDocument/2006/relationships/hyperlink" Target="https://www.reuters.com/technology/ai-healthcare-market-2025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28016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AI 헬스케어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3E6"/>
                </a:solidFill>
                <a:latin typeface="Malgun Gothic"/>
              </a:rPr>
              <a:t>투자자 브리핑 · Personal AI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의료 현장의 인력 부족 문제가 AI 도입의 주요 배경으로 지적되었다.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The AI healthcare models still showed errors in rare disease cases, which remains a key challenge for clinical deployment.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근거: 검증된 핵심 사실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국내 AI 헬스케어 시장 규모는 2024년 1조 2,000억원으로 집계되었다.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8A4FBF"/>
                </a:solidFill>
                <a:latin typeface="Malgun Gothic"/>
              </a:rPr>
              <a:t>추정  </a:t>
            </a:r>
            <a:r>
              <a:rPr sz="1600">
                <a:solidFill>
                  <a:srgbClr val="1B2A49"/>
                </a:solidFill>
                <a:latin typeface="Malgun Gothic"/>
              </a:rPr>
              <a:t>정부는 국내 AI 헬스케어 시장 규모가 2028년 3조 5,000억원에 이를 것으로 전망했다.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보건복지부는 2025년 3월 10일 AI 헬스케어 산업 육성 방안을 발표했다.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의료 현장의 인력 부족 문제가 AI 도입의 주요 배경으로 지적되었다.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600">
                <a:solidFill>
                  <a:srgbClr val="1B2A49"/>
                </a:solidFill>
                <a:latin typeface="Malgun Gothic"/>
              </a:rPr>
              <a:t>정부는 개인정보 보호 규제와 의료기기 인허가 절차를 개선할 계획이다.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검증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429000" cy="2377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5DAA"/>
                </a:solidFill>
                <a:latin typeface="Malgun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9"/>
                </a:solidFill>
                <a:latin typeface="Malgun Gothic"/>
              </a:rPr>
              <a:t>검증된 주장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전체 17건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429000" cy="2377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5DAA"/>
                </a:solidFill>
                <a:latin typeface="Malgun 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175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9"/>
                </a:solidFill>
                <a:latin typeface="Malgun Gothic"/>
              </a:rPr>
              <a:t>원문 확인 출처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발견 7건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3429000" cy="2377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1168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5DAA"/>
                </a:solidFill>
                <a:latin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175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9"/>
                </a:solidFill>
                <a:latin typeface="Malgun Gothic"/>
              </a:rPr>
              <a:t>미확인·충돌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52044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보고서 부록 참조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‘AI 헬스케어 시장’ 관련 추출 주장 17건 중 14건이 원문 인용과 숫자 검사를 통과했고, 이는 5개 출처에서 나왔습니다.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검증된 수치 근거 7건이 확보되어 정량 판단의 출발점으로 사용할 수 있습니다.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출처 간 수치가 충돌하는 항목이 1건 있어 해당 수치는 결론에 사용하기 전 기준 정의를 확인해야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해결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C0392B"/>
                </a:solidFill>
                <a:latin typeface="Malgun Gothic"/>
              </a:rPr>
              <a:t>미확인  </a:t>
            </a:r>
            <a:r>
              <a:rPr sz="1600">
                <a:solidFill>
                  <a:srgbClr val="1B2A49"/>
                </a:solidFill>
                <a:latin typeface="Malgun Gothic"/>
              </a:rPr>
              <a:t>LLM이 연결되지 않은 오프라인 모드에서는 근거 없는 전략 문장을 자동 생성하지 않습니다. 위 검증된 사실을 바탕으로 CEO 검토가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비즈니스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C0392B"/>
                </a:solidFill>
                <a:latin typeface="Malgun Gothic"/>
              </a:rPr>
              <a:t>미확인  </a:t>
            </a:r>
            <a:r>
              <a:rPr sz="1600">
                <a:solidFill>
                  <a:srgbClr val="1B2A49"/>
                </a:solidFill>
                <a:latin typeface="Malgun Gothic"/>
              </a:rPr>
              <a:t>LLM이 연결되지 않은 오프라인 모드에서는 근거 없는 전략 문장을 자동 생성하지 않습니다. 위 검증된 사실을 바탕으로 CEO 검토가 필요합니다.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시장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845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300">
                <a:solidFill>
                  <a:srgbClr val="1B2A49"/>
                </a:solidFill>
                <a:latin typeface="Malgun Gothic"/>
              </a:rPr>
              <a:t>국내 AI 헬스케어 시장 규모는 2024년 1조 2,000억원으로 집계되었다.</a:t>
            </a:r>
            <a:r>
              <a:rPr sz="78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845" b="1">
                <a:solidFill>
                  <a:srgbClr val="8A4FBF"/>
                </a:solidFill>
                <a:latin typeface="Malgun Gothic"/>
              </a:rPr>
              <a:t>추정  </a:t>
            </a:r>
            <a:r>
              <a:rPr sz="1300">
                <a:solidFill>
                  <a:srgbClr val="1B2A49"/>
                </a:solidFill>
                <a:latin typeface="Malgun Gothic"/>
              </a:rPr>
              <a:t>정부는 국내 AI 헬스케어 시장 규모가 2028년 3조 5,000억원에 이를 것으로 전망했다.</a:t>
            </a:r>
            <a:r>
              <a:rPr sz="78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845" b="1">
                <a:solidFill>
                  <a:srgbClr val="1F7A4D"/>
                </a:solidFill>
                <a:latin typeface="Malgun Gothic"/>
              </a:rPr>
              <a:t>사실  </a:t>
            </a:r>
            <a:r>
              <a:rPr sz="1300">
                <a:solidFill>
                  <a:srgbClr val="1B2A49"/>
                </a:solidFill>
                <a:latin typeface="Malgun Gothic"/>
              </a:rPr>
              <a:t>국내 AI 헬스케어 시장 규모는 2023년 9,500억원에서 2024년 1조 2,000억원으로 성장하였다.</a:t>
            </a:r>
            <a:r>
              <a:rPr sz="780" baseline="30000">
                <a:solidFill>
                  <a:srgbClr val="2B5DAA"/>
                </a:solidFill>
                <a:latin typeface="Malgun Gothic"/>
              </a:rPr>
              <a:t> 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"/>
              </a:rPr>
              <a:t>출처: [1][2]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C0392B"/>
                </a:solidFill>
                <a:latin typeface="Malgun Gothic"/>
              </a:rPr>
              <a:t>미확인  </a:t>
            </a:r>
            <a:r>
              <a:rPr sz="1600">
                <a:solidFill>
                  <a:srgbClr val="1B2A49"/>
                </a:solidFill>
                <a:latin typeface="Malgun Gothic"/>
              </a:rPr>
              <a:t>LLM이 연결되지 않은 오프라인 모드에서는 근거 없는 전략 문장을 자동 생성하지 않습니다. 위 검증된 사실을 바탕으로 CEO 검토가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강점(S)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약점(W)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기회(O)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위협(T)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9"/>
                          </a:solidFill>
                          <a:latin typeface="Malgun Gothic"/>
                        </a:rPr>
                        <a:t>근거 부족 — 자동 생성하지 않음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9"/>
                          </a:solidFill>
                          <a:latin typeface="Malgun Gothic"/>
                        </a:rPr>
                        <a:t>근거 부족 — 자동 생성하지 않음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9"/>
                          </a:solidFill>
                          <a:latin typeface="Malgun Gothic"/>
                        </a:rPr>
                        <a:t>국내 AI 헬스케어 시장 규모는 2024년 1조 2,000억원으로 집계되었다.
정부는 국내 AI 헬스케어 시장 규모가 2028년 3조 5,000억원에 이를 것으로 전망했다.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9"/>
                          </a:solidFill>
                          <a:latin typeface="Malgun Gothic"/>
                        </a:rPr>
                        <a:t>정부는 개인정보 보호 규제와 의료기기 인허가 절차를 개선할 계획이다.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재무 전망 (모델 계산)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845" b="1">
                <a:solidFill>
                  <a:srgbClr val="8A4FBF"/>
                </a:solidFill>
                <a:latin typeface="Malgun Gothic"/>
              </a:rPr>
              <a:t>추정  </a:t>
            </a:r>
            <a:r>
              <a:rPr sz="1300">
                <a:solidFill>
                  <a:srgbClr val="1B2A49"/>
                </a:solidFill>
                <a:latin typeface="Malgun Gothic"/>
              </a:rPr>
              <a:t>손익분기: Y4</a:t>
            </a:r>
          </a:p>
          <a:p>
            <a:pPr>
              <a:spcAft>
                <a:spcPts val="1000"/>
              </a:spcAft>
            </a:pPr>
            <a:r>
              <a:rPr sz="845" b="1">
                <a:solidFill>
                  <a:srgbClr val="8A4FBF"/>
                </a:solidFill>
                <a:latin typeface="Malgun Gothic"/>
              </a:rPr>
              <a:t>추정  </a:t>
            </a:r>
            <a:r>
              <a:rPr sz="1300">
                <a:solidFill>
                  <a:srgbClr val="1B2A49"/>
                </a:solidFill>
                <a:latin typeface="Malgun Gothic"/>
              </a:rPr>
              <a:t>LTV/CAC 10.5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"/>
              </a:rPr>
              <a:t>입력값은 모두 가정(ASSUMPTION) — 스프레드시트 Assumptions 시트 참조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698480" cy="54864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50008" y="3154680"/>
            <a:ext cx="329184" cy="329184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9"/>
                </a:solidFill>
                <a:latin typeface="Malgun Gothic"/>
              </a:rPr>
              <a:t>1단계 (템플릿)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algun Gothic"/>
              </a:rPr>
              <a:t>문제·고객 가설 검증 인터뷰</a:t>
            </a:r>
          </a:p>
        </p:txBody>
      </p:sp>
      <p:sp>
        <p:nvSpPr>
          <p:cNvPr id="10" name="Oval 9"/>
          <p:cNvSpPr/>
          <p:nvPr/>
        </p:nvSpPr>
        <p:spPr>
          <a:xfrm>
            <a:off x="5916168" y="3154680"/>
            <a:ext cx="329184" cy="329184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9"/>
                </a:solidFill>
                <a:latin typeface="Malgun Gothic"/>
              </a:rPr>
              <a:t>2단계 (템플릿)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algun Gothic"/>
              </a:rPr>
              <a:t>MVP 제작 및 파일럿</a:t>
            </a:r>
          </a:p>
        </p:txBody>
      </p:sp>
      <p:sp>
        <p:nvSpPr>
          <p:cNvPr id="13" name="Oval 12"/>
          <p:cNvSpPr/>
          <p:nvPr/>
        </p:nvSpPr>
        <p:spPr>
          <a:xfrm>
            <a:off x="9482328" y="3154680"/>
            <a:ext cx="329184" cy="329184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774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9"/>
                </a:solidFill>
                <a:latin typeface="Malgun Gothic"/>
              </a:rPr>
              <a:t>3단계 (템플릿)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84048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algun Gothic"/>
              </a:rPr>
              <a:t>유료 전환 및 채널 확장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업무 수행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13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2011680"/>
            <a:ext cx="2148840" cy="1097280"/>
          </a:xfrm>
          <a:prstGeom prst="homePlate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</a:rPr>
              <a:t>병렬 검색·공식 자료 우선</a:t>
            </a:r>
          </a:p>
        </p:txBody>
      </p:sp>
      <p:sp>
        <p:nvSpPr>
          <p:cNvPr id="8" name="Chevron 7"/>
          <p:cNvSpPr/>
          <p:nvPr/>
        </p:nvSpPr>
        <p:spPr>
          <a:xfrm>
            <a:off x="2743200" y="2011680"/>
            <a:ext cx="2148840" cy="109728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원문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3832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</a:rPr>
              <a:t>PDF/웹 원문 파싱</a:t>
            </a:r>
          </a:p>
        </p:txBody>
      </p:sp>
      <p:sp>
        <p:nvSpPr>
          <p:cNvPr id="10" name="Chevron 9"/>
          <p:cNvSpPr/>
          <p:nvPr/>
        </p:nvSpPr>
        <p:spPr>
          <a:xfrm>
            <a:off x="4937760" y="2011680"/>
            <a:ext cx="2148840" cy="1097280"/>
          </a:xfrm>
          <a:prstGeom prst="chevron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</a:rPr>
              <a:t>인용문·숫자·날짜·교차</a:t>
            </a:r>
          </a:p>
        </p:txBody>
      </p:sp>
      <p:sp>
        <p:nvSpPr>
          <p:cNvPr id="12" name="Chevron 11"/>
          <p:cNvSpPr/>
          <p:nvPr/>
        </p:nvSpPr>
        <p:spPr>
          <a:xfrm>
            <a:off x="7132320" y="2011680"/>
            <a:ext cx="2148840" cy="109728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비판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832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</a:rPr>
              <a:t>Critic Agent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326880" y="2011680"/>
            <a:ext cx="2148840" cy="1097280"/>
          </a:xfrm>
          <a:prstGeom prst="chevron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문서화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3832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</a:rPr>
              <a:t>DOCX·PPTX·XLSX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‘AI 헬스케어 시장’ 관련 추출 주장 17건 중 14건이 원문 인용과 숫자 검사를 통과했고, 이는 5개 출처에서 나왔습니다.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검증된 수치 근거 7건이 확보되어 정량 판단의 출발점으로 사용할 수 있습니다.</a:t>
            </a:r>
            <a:r>
              <a:rPr sz="960" baseline="30000">
                <a:solidFill>
                  <a:srgbClr val="2B5DAA"/>
                </a:solidFill>
                <a:latin typeface="Malgun Gothic"/>
              </a:rPr>
              <a:t> [1]</a:t>
            </a:r>
          </a:p>
          <a:p>
            <a:pPr>
              <a:spcAft>
                <a:spcPts val="1000"/>
              </a:spcAft>
            </a:pPr>
            <a:r>
              <a:rPr sz="1040" b="1">
                <a:solidFill>
                  <a:srgbClr val="2B5DAA"/>
                </a:solidFill>
                <a:latin typeface="Malgun Gothic"/>
              </a:rPr>
              <a:t>분석  </a:t>
            </a:r>
            <a:r>
              <a:rPr sz="1600">
                <a:solidFill>
                  <a:srgbClr val="1B2A49"/>
                </a:solidFill>
                <a:latin typeface="Malgun Gothic"/>
              </a:rPr>
              <a:t>미확인·충돌 항목 1건은 결론에서 제외했습니다.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7B39"/>
                </a:solidFill>
                <a:latin typeface="Malgun Gothic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9"/>
                </a:solidFill>
                <a:latin typeface="Malgun Gothic"/>
              </a:rPr>
              <a:t>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algun Gothic"/>
              </a:rPr>
              <a:t>AI 헬스케어 시장 발표자료   |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latin typeface="Malgun Gothic"/>
              </a:rPr>
              <a:t>[1] 보건복지부 AI 헬스케어 육성 정책 발표 — 보건복지부 (2025-03-10) </a:t>
            </a:r>
            <a:r>
              <a:rPr sz="900">
                <a:solidFill>
                  <a:srgbClr val="2B5DAA"/>
                </a:solidFill>
                <a:latin typeface="Malgun Gothic"/>
                <a:hlinkClick r:id="rId2"/>
              </a:rPr>
              <a:t>https://www.mohw.go.kr/policy/ai-healthcare-2025</a:t>
            </a:r>
          </a:p>
          <a:p>
            <a:r>
              <a:rPr sz="1100">
                <a:latin typeface="Malgun Gothic"/>
              </a:rPr>
              <a:t>[2] AI 헬스케어 시장 분석 보고서 2025 — kdi.re.kr (2025-05-20) </a:t>
            </a:r>
            <a:r>
              <a:rPr sz="900">
                <a:solidFill>
                  <a:srgbClr val="2B5DAA"/>
                </a:solidFill>
                <a:latin typeface="Malgun Gothic"/>
                <a:hlinkClick r:id="rId3"/>
              </a:rPr>
              <a:t>https://www.kdi.re.kr/report/ai-health-market-2025.pdf</a:t>
            </a:r>
          </a:p>
          <a:p>
            <a:r>
              <a:rPr sz="1100">
                <a:latin typeface="Malgun Gothic"/>
              </a:rPr>
              <a:t>[3] Evaluating Large Language Models on Medical Licensing Exams — arxiv.org (2025-01-15) </a:t>
            </a:r>
            <a:r>
              <a:rPr sz="900">
                <a:solidFill>
                  <a:srgbClr val="2B5DAA"/>
                </a:solidFill>
                <a:latin typeface="Malgun Gothic"/>
                <a:hlinkClick r:id="rId4"/>
              </a:rPr>
              <a:t>https://arxiv.org/abs/2501.01234</a:t>
            </a:r>
          </a:p>
          <a:p>
            <a:r>
              <a:rPr sz="1100">
                <a:latin typeface="Malgun Gothic"/>
              </a:rPr>
              <a:t>[4] Global AI healthcare market keeps growing — reuters.com (2025-06-01) </a:t>
            </a:r>
            <a:r>
              <a:rPr sz="900">
                <a:solidFill>
                  <a:srgbClr val="2B5DAA"/>
                </a:solidFill>
                <a:latin typeface="Malgun Gothic"/>
                <a:hlinkClick r:id="rId5"/>
              </a:rPr>
              <a:t>https://www.reuters.com/technology/ai-healthcare-market-2025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헬스케어 시장 발표자료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